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0" r:id="rId10"/>
    <p:sldId id="263" r:id="rId11"/>
    <p:sldId id="278" r:id="rId12"/>
    <p:sldId id="274" r:id="rId13"/>
    <p:sldId id="275" r:id="rId14"/>
    <p:sldId id="262" r:id="rId15"/>
    <p:sldId id="272" r:id="rId16"/>
    <p:sldId id="267" r:id="rId17"/>
    <p:sldId id="264" r:id="rId18"/>
    <p:sldId id="265" r:id="rId19"/>
    <p:sldId id="266" r:id="rId20"/>
    <p:sldId id="268" r:id="rId21"/>
    <p:sldId id="270" r:id="rId22"/>
    <p:sldId id="269" r:id="rId23"/>
    <p:sldId id="271" r:id="rId24"/>
    <p:sldId id="273" r:id="rId25"/>
    <p:sldId id="276" r:id="rId26"/>
    <p:sldId id="277" r:id="rId27"/>
    <p:sldId id="27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4AC592-77E2-4F78-9A5B-9C67061120E7}" v="215" dt="2020-10-17T01:12:21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Falkenheim" userId="52d1ac40-e486-4b5e-b236-4d4c84ee498d" providerId="ADAL" clId="{CD4AC592-77E2-4F78-9A5B-9C67061120E7}"/>
    <pc:docChg chg="undo custSel addSld modSld">
      <pc:chgData name="Michael Falkenheim" userId="52d1ac40-e486-4b5e-b236-4d4c84ee498d" providerId="ADAL" clId="{CD4AC592-77E2-4F78-9A5B-9C67061120E7}" dt="2020-10-17T01:12:57.089" v="1887" actId="20577"/>
      <pc:docMkLst>
        <pc:docMk/>
      </pc:docMkLst>
      <pc:sldChg chg="modSp">
        <pc:chgData name="Michael Falkenheim" userId="52d1ac40-e486-4b5e-b236-4d4c84ee498d" providerId="ADAL" clId="{CD4AC592-77E2-4F78-9A5B-9C67061120E7}" dt="2020-10-17T00:19:34.359" v="1168" actId="20577"/>
        <pc:sldMkLst>
          <pc:docMk/>
          <pc:sldMk cId="2842231982" sldId="260"/>
        </pc:sldMkLst>
        <pc:spChg chg="mod">
          <ac:chgData name="Michael Falkenheim" userId="52d1ac40-e486-4b5e-b236-4d4c84ee498d" providerId="ADAL" clId="{CD4AC592-77E2-4F78-9A5B-9C67061120E7}" dt="2020-10-17T00:19:34.359" v="1168" actId="20577"/>
          <ac:spMkLst>
            <pc:docMk/>
            <pc:sldMk cId="2842231982" sldId="260"/>
            <ac:spMk id="3" creationId="{00000000-0000-0000-0000-000000000000}"/>
          </ac:spMkLst>
        </pc:spChg>
      </pc:sldChg>
      <pc:sldChg chg="addSp delSp modSp">
        <pc:chgData name="Michael Falkenheim" userId="52d1ac40-e486-4b5e-b236-4d4c84ee498d" providerId="ADAL" clId="{CD4AC592-77E2-4F78-9A5B-9C67061120E7}" dt="2020-10-17T00:39:35.151" v="1567" actId="20577"/>
        <pc:sldMkLst>
          <pc:docMk/>
          <pc:sldMk cId="1675113034" sldId="264"/>
        </pc:sldMkLst>
        <pc:spChg chg="mod">
          <ac:chgData name="Michael Falkenheim" userId="52d1ac40-e486-4b5e-b236-4d4c84ee498d" providerId="ADAL" clId="{CD4AC592-77E2-4F78-9A5B-9C67061120E7}" dt="2020-10-17T00:35:15.585" v="1507" actId="20577"/>
          <ac:spMkLst>
            <pc:docMk/>
            <pc:sldMk cId="1675113034" sldId="264"/>
            <ac:spMk id="8" creationId="{00000000-0000-0000-0000-000000000000}"/>
          </ac:spMkLst>
        </pc:spChg>
        <pc:spChg chg="add del mod">
          <ac:chgData name="Michael Falkenheim" userId="52d1ac40-e486-4b5e-b236-4d4c84ee498d" providerId="ADAL" clId="{CD4AC592-77E2-4F78-9A5B-9C67061120E7}" dt="2020-10-17T00:35:52.828" v="1510" actId="3680"/>
          <ac:spMkLst>
            <pc:docMk/>
            <pc:sldMk cId="1675113034" sldId="264"/>
            <ac:spMk id="9" creationId="{00000000-0000-0000-0000-000000000000}"/>
          </ac:spMkLst>
        </pc:spChg>
        <pc:graphicFrameChg chg="add del mod ord modGraphic">
          <ac:chgData name="Michael Falkenheim" userId="52d1ac40-e486-4b5e-b236-4d4c84ee498d" providerId="ADAL" clId="{CD4AC592-77E2-4F78-9A5B-9C67061120E7}" dt="2020-10-17T00:35:37.440" v="1509" actId="3680"/>
          <ac:graphicFrameMkLst>
            <pc:docMk/>
            <pc:sldMk cId="1675113034" sldId="264"/>
            <ac:graphicFrameMk id="2" creationId="{A9D3364D-3399-48BB-A5E5-C47138A18830}"/>
          </ac:graphicFrameMkLst>
        </pc:graphicFrameChg>
        <pc:graphicFrameChg chg="add mod ord modGraphic">
          <ac:chgData name="Michael Falkenheim" userId="52d1ac40-e486-4b5e-b236-4d4c84ee498d" providerId="ADAL" clId="{CD4AC592-77E2-4F78-9A5B-9C67061120E7}" dt="2020-10-17T00:39:35.151" v="1567" actId="20577"/>
          <ac:graphicFrameMkLst>
            <pc:docMk/>
            <pc:sldMk cId="1675113034" sldId="264"/>
            <ac:graphicFrameMk id="4" creationId="{85CA469F-7DB6-4453-B245-DA29EADB82F7}"/>
          </ac:graphicFrameMkLst>
        </pc:graphicFrameChg>
      </pc:sldChg>
      <pc:sldChg chg="addSp delSp modSp">
        <pc:chgData name="Michael Falkenheim" userId="52d1ac40-e486-4b5e-b236-4d4c84ee498d" providerId="ADAL" clId="{CD4AC592-77E2-4F78-9A5B-9C67061120E7}" dt="2020-10-17T00:42:17.751" v="1740" actId="255"/>
        <pc:sldMkLst>
          <pc:docMk/>
          <pc:sldMk cId="3773632742" sldId="265"/>
        </pc:sldMkLst>
        <pc:spChg chg="mod">
          <ac:chgData name="Michael Falkenheim" userId="52d1ac40-e486-4b5e-b236-4d4c84ee498d" providerId="ADAL" clId="{CD4AC592-77E2-4F78-9A5B-9C67061120E7}" dt="2020-10-17T00:40:55.166" v="1731" actId="20577"/>
          <ac:spMkLst>
            <pc:docMk/>
            <pc:sldMk cId="3773632742" sldId="265"/>
            <ac:spMk id="3" creationId="{00000000-0000-0000-0000-000000000000}"/>
          </ac:spMkLst>
        </pc:spChg>
        <pc:spChg chg="del">
          <ac:chgData name="Michael Falkenheim" userId="52d1ac40-e486-4b5e-b236-4d4c84ee498d" providerId="ADAL" clId="{CD4AC592-77E2-4F78-9A5B-9C67061120E7}" dt="2020-10-17T00:39:08.686" v="1545" actId="3680"/>
          <ac:spMkLst>
            <pc:docMk/>
            <pc:sldMk cId="3773632742" sldId="265"/>
            <ac:spMk id="4" creationId="{00000000-0000-0000-0000-000000000000}"/>
          </ac:spMkLst>
        </pc:spChg>
        <pc:graphicFrameChg chg="add mod ord modGraphic">
          <ac:chgData name="Michael Falkenheim" userId="52d1ac40-e486-4b5e-b236-4d4c84ee498d" providerId="ADAL" clId="{CD4AC592-77E2-4F78-9A5B-9C67061120E7}" dt="2020-10-17T00:42:17.751" v="1740" actId="255"/>
          <ac:graphicFrameMkLst>
            <pc:docMk/>
            <pc:sldMk cId="3773632742" sldId="265"/>
            <ac:graphicFrameMk id="5" creationId="{0E204F79-1377-4A7D-A2E4-22F6C152B0D6}"/>
          </ac:graphicFrameMkLst>
        </pc:graphicFrameChg>
      </pc:sldChg>
      <pc:sldChg chg="addSp delSp modSp">
        <pc:chgData name="Michael Falkenheim" userId="52d1ac40-e486-4b5e-b236-4d4c84ee498d" providerId="ADAL" clId="{CD4AC592-77E2-4F78-9A5B-9C67061120E7}" dt="2020-10-17T01:04:19.593" v="1776" actId="120"/>
        <pc:sldMkLst>
          <pc:docMk/>
          <pc:sldMk cId="2177491319" sldId="266"/>
        </pc:sldMkLst>
        <pc:spChg chg="mod">
          <ac:chgData name="Michael Falkenheim" userId="52d1ac40-e486-4b5e-b236-4d4c84ee498d" providerId="ADAL" clId="{CD4AC592-77E2-4F78-9A5B-9C67061120E7}" dt="2020-10-17T00:42:59.300" v="1750"/>
          <ac:spMkLst>
            <pc:docMk/>
            <pc:sldMk cId="2177491319" sldId="266"/>
            <ac:spMk id="3" creationId="{00000000-0000-0000-0000-000000000000}"/>
          </ac:spMkLst>
        </pc:spChg>
        <pc:spChg chg="del mod">
          <ac:chgData name="Michael Falkenheim" userId="52d1ac40-e486-4b5e-b236-4d4c84ee498d" providerId="ADAL" clId="{CD4AC592-77E2-4F78-9A5B-9C67061120E7}" dt="2020-10-17T00:43:04.398" v="1751" actId="478"/>
          <ac:spMkLst>
            <pc:docMk/>
            <pc:sldMk cId="2177491319" sldId="266"/>
            <ac:spMk id="4" creationId="{00000000-0000-0000-0000-000000000000}"/>
          </ac:spMkLst>
        </pc:spChg>
        <pc:graphicFrameChg chg="add mod modGraphic">
          <ac:chgData name="Michael Falkenheim" userId="52d1ac40-e486-4b5e-b236-4d4c84ee498d" providerId="ADAL" clId="{CD4AC592-77E2-4F78-9A5B-9C67061120E7}" dt="2020-10-17T01:04:19.593" v="1776" actId="120"/>
          <ac:graphicFrameMkLst>
            <pc:docMk/>
            <pc:sldMk cId="2177491319" sldId="266"/>
            <ac:graphicFrameMk id="5" creationId="{27DFA441-BEA1-4AFC-9AD9-8F992EA14CB5}"/>
          </ac:graphicFrameMkLst>
        </pc:graphicFrameChg>
      </pc:sldChg>
      <pc:sldChg chg="addSp delSp modSp">
        <pc:chgData name="Michael Falkenheim" userId="52d1ac40-e486-4b5e-b236-4d4c84ee498d" providerId="ADAL" clId="{CD4AC592-77E2-4F78-9A5B-9C67061120E7}" dt="2020-10-17T01:07:42.381" v="1796" actId="120"/>
        <pc:sldMkLst>
          <pc:docMk/>
          <pc:sldMk cId="89703625" sldId="268"/>
        </pc:sldMkLst>
        <pc:spChg chg="mod">
          <ac:chgData name="Michael Falkenheim" userId="52d1ac40-e486-4b5e-b236-4d4c84ee498d" providerId="ADAL" clId="{CD4AC592-77E2-4F78-9A5B-9C67061120E7}" dt="2020-10-17T00:30:42.546" v="1416" actId="20578"/>
          <ac:spMkLst>
            <pc:docMk/>
            <pc:sldMk cId="89703625" sldId="268"/>
            <ac:spMk id="3" creationId="{00000000-0000-0000-0000-000000000000}"/>
          </ac:spMkLst>
        </pc:spChg>
        <pc:spChg chg="add del">
          <ac:chgData name="Michael Falkenheim" userId="52d1ac40-e486-4b5e-b236-4d4c84ee498d" providerId="ADAL" clId="{CD4AC592-77E2-4F78-9A5B-9C67061120E7}" dt="2020-10-17T00:27:38.474" v="1247" actId="3680"/>
          <ac:spMkLst>
            <pc:docMk/>
            <pc:sldMk cId="89703625" sldId="268"/>
            <ac:spMk id="4" creationId="{00000000-0000-0000-0000-000000000000}"/>
          </ac:spMkLst>
        </pc:spChg>
        <pc:graphicFrameChg chg="add del mod ord modGraphic">
          <ac:chgData name="Michael Falkenheim" userId="52d1ac40-e486-4b5e-b236-4d4c84ee498d" providerId="ADAL" clId="{CD4AC592-77E2-4F78-9A5B-9C67061120E7}" dt="2020-10-17T00:27:27.309" v="1246" actId="3680"/>
          <ac:graphicFrameMkLst>
            <pc:docMk/>
            <pc:sldMk cId="89703625" sldId="268"/>
            <ac:graphicFrameMk id="5" creationId="{908A5398-FDC2-46C9-9927-BAA8D2C7F3BC}"/>
          </ac:graphicFrameMkLst>
        </pc:graphicFrameChg>
        <pc:graphicFrameChg chg="add mod ord modGraphic">
          <ac:chgData name="Michael Falkenheim" userId="52d1ac40-e486-4b5e-b236-4d4c84ee498d" providerId="ADAL" clId="{CD4AC592-77E2-4F78-9A5B-9C67061120E7}" dt="2020-10-17T01:07:42.381" v="1796" actId="120"/>
          <ac:graphicFrameMkLst>
            <pc:docMk/>
            <pc:sldMk cId="89703625" sldId="268"/>
            <ac:graphicFrameMk id="7" creationId="{5D6D9D3C-1113-46CA-9077-93CE22D954CF}"/>
          </ac:graphicFrameMkLst>
        </pc:graphicFrameChg>
      </pc:sldChg>
      <pc:sldChg chg="addSp delSp modSp">
        <pc:chgData name="Michael Falkenheim" userId="52d1ac40-e486-4b5e-b236-4d4c84ee498d" providerId="ADAL" clId="{CD4AC592-77E2-4F78-9A5B-9C67061120E7}" dt="2020-10-17T01:12:57.089" v="1887" actId="20577"/>
        <pc:sldMkLst>
          <pc:docMk/>
          <pc:sldMk cId="3031199928" sldId="270"/>
        </pc:sldMkLst>
        <pc:spChg chg="mod">
          <ac:chgData name="Michael Falkenheim" userId="52d1ac40-e486-4b5e-b236-4d4c84ee498d" providerId="ADAL" clId="{CD4AC592-77E2-4F78-9A5B-9C67061120E7}" dt="2020-10-17T01:08:29.380" v="1801"/>
          <ac:spMkLst>
            <pc:docMk/>
            <pc:sldMk cId="3031199928" sldId="270"/>
            <ac:spMk id="8" creationId="{00000000-0000-0000-0000-000000000000}"/>
          </ac:spMkLst>
        </pc:spChg>
        <pc:spChg chg="del mod">
          <ac:chgData name="Michael Falkenheim" userId="52d1ac40-e486-4b5e-b236-4d4c84ee498d" providerId="ADAL" clId="{CD4AC592-77E2-4F78-9A5B-9C67061120E7}" dt="2020-10-17T01:08:32.172" v="1802" actId="478"/>
          <ac:spMkLst>
            <pc:docMk/>
            <pc:sldMk cId="3031199928" sldId="270"/>
            <ac:spMk id="9" creationId="{00000000-0000-0000-0000-000000000000}"/>
          </ac:spMkLst>
        </pc:spChg>
        <pc:graphicFrameChg chg="add mod modGraphic">
          <ac:chgData name="Michael Falkenheim" userId="52d1ac40-e486-4b5e-b236-4d4c84ee498d" providerId="ADAL" clId="{CD4AC592-77E2-4F78-9A5B-9C67061120E7}" dt="2020-10-17T01:12:57.089" v="1887" actId="20577"/>
          <ac:graphicFrameMkLst>
            <pc:docMk/>
            <pc:sldMk cId="3031199928" sldId="270"/>
            <ac:graphicFrameMk id="2" creationId="{BC66DABA-5203-4945-929E-5291BB31E99E}"/>
          </ac:graphicFrameMkLst>
        </pc:graphicFrameChg>
      </pc:sldChg>
      <pc:sldChg chg="modSp">
        <pc:chgData name="Michael Falkenheim" userId="52d1ac40-e486-4b5e-b236-4d4c84ee498d" providerId="ADAL" clId="{CD4AC592-77E2-4F78-9A5B-9C67061120E7}" dt="2020-10-17T00:09:50.181" v="567"/>
        <pc:sldMkLst>
          <pc:docMk/>
          <pc:sldMk cId="3240144881" sldId="271"/>
        </pc:sldMkLst>
        <pc:spChg chg="mod">
          <ac:chgData name="Michael Falkenheim" userId="52d1ac40-e486-4b5e-b236-4d4c84ee498d" providerId="ADAL" clId="{CD4AC592-77E2-4F78-9A5B-9C67061120E7}" dt="2020-10-17T00:09:50.181" v="567"/>
          <ac:spMkLst>
            <pc:docMk/>
            <pc:sldMk cId="3240144881" sldId="271"/>
            <ac:spMk id="2" creationId="{00000000-0000-0000-0000-000000000000}"/>
          </ac:spMkLst>
        </pc:spChg>
        <pc:spChg chg="mod">
          <ac:chgData name="Michael Falkenheim" userId="52d1ac40-e486-4b5e-b236-4d4c84ee498d" providerId="ADAL" clId="{CD4AC592-77E2-4F78-9A5B-9C67061120E7}" dt="2020-10-17T00:09:31.934" v="563"/>
          <ac:spMkLst>
            <pc:docMk/>
            <pc:sldMk cId="3240144881" sldId="271"/>
            <ac:spMk id="3" creationId="{00000000-0000-0000-0000-000000000000}"/>
          </ac:spMkLst>
        </pc:spChg>
      </pc:sldChg>
      <pc:sldChg chg="modSp">
        <pc:chgData name="Michael Falkenheim" userId="52d1ac40-e486-4b5e-b236-4d4c84ee498d" providerId="ADAL" clId="{CD4AC592-77E2-4F78-9A5B-9C67061120E7}" dt="2020-10-17T00:09:55.444" v="569"/>
        <pc:sldMkLst>
          <pc:docMk/>
          <pc:sldMk cId="2954401846" sldId="273"/>
        </pc:sldMkLst>
        <pc:spChg chg="mod">
          <ac:chgData name="Michael Falkenheim" userId="52d1ac40-e486-4b5e-b236-4d4c84ee498d" providerId="ADAL" clId="{CD4AC592-77E2-4F78-9A5B-9C67061120E7}" dt="2020-10-17T00:09:55.444" v="569"/>
          <ac:spMkLst>
            <pc:docMk/>
            <pc:sldMk cId="2954401846" sldId="273"/>
            <ac:spMk id="2" creationId="{00000000-0000-0000-0000-000000000000}"/>
          </ac:spMkLst>
        </pc:spChg>
        <pc:spChg chg="mod">
          <ac:chgData name="Michael Falkenheim" userId="52d1ac40-e486-4b5e-b236-4d4c84ee498d" providerId="ADAL" clId="{CD4AC592-77E2-4F78-9A5B-9C67061120E7}" dt="2020-10-17T00:09:35.391" v="564"/>
          <ac:spMkLst>
            <pc:docMk/>
            <pc:sldMk cId="2954401846" sldId="273"/>
            <ac:spMk id="3" creationId="{00000000-0000-0000-0000-000000000000}"/>
          </ac:spMkLst>
        </pc:spChg>
      </pc:sldChg>
      <pc:sldChg chg="modSp">
        <pc:chgData name="Michael Falkenheim" userId="52d1ac40-e486-4b5e-b236-4d4c84ee498d" providerId="ADAL" clId="{CD4AC592-77E2-4F78-9A5B-9C67061120E7}" dt="2020-10-17T00:20:36.048" v="1176" actId="20577"/>
        <pc:sldMkLst>
          <pc:docMk/>
          <pc:sldMk cId="3243789231" sldId="275"/>
        </pc:sldMkLst>
        <pc:spChg chg="mod">
          <ac:chgData name="Michael Falkenheim" userId="52d1ac40-e486-4b5e-b236-4d4c84ee498d" providerId="ADAL" clId="{CD4AC592-77E2-4F78-9A5B-9C67061120E7}" dt="2020-10-17T00:20:36.048" v="1176" actId="20577"/>
          <ac:spMkLst>
            <pc:docMk/>
            <pc:sldMk cId="3243789231" sldId="275"/>
            <ac:spMk id="5" creationId="{00000000-0000-0000-0000-000000000000}"/>
          </ac:spMkLst>
        </pc:spChg>
      </pc:sldChg>
      <pc:sldChg chg="modSp add">
        <pc:chgData name="Michael Falkenheim" userId="52d1ac40-e486-4b5e-b236-4d4c84ee498d" providerId="ADAL" clId="{CD4AC592-77E2-4F78-9A5B-9C67061120E7}" dt="2020-10-17T00:17:18.517" v="1152" actId="5793"/>
        <pc:sldMkLst>
          <pc:docMk/>
          <pc:sldMk cId="1563076144" sldId="277"/>
        </pc:sldMkLst>
        <pc:spChg chg="mod">
          <ac:chgData name="Michael Falkenheim" userId="52d1ac40-e486-4b5e-b236-4d4c84ee498d" providerId="ADAL" clId="{CD4AC592-77E2-4F78-9A5B-9C67061120E7}" dt="2020-10-17T00:10:17.045" v="627" actId="20577"/>
          <ac:spMkLst>
            <pc:docMk/>
            <pc:sldMk cId="1563076144" sldId="277"/>
            <ac:spMk id="2" creationId="{755E27BE-D4BF-4D62-BAE5-346A1A019EA4}"/>
          </ac:spMkLst>
        </pc:spChg>
        <pc:spChg chg="mod">
          <ac:chgData name="Michael Falkenheim" userId="52d1ac40-e486-4b5e-b236-4d4c84ee498d" providerId="ADAL" clId="{CD4AC592-77E2-4F78-9A5B-9C67061120E7}" dt="2020-10-17T00:17:18.517" v="1152" actId="5793"/>
          <ac:spMkLst>
            <pc:docMk/>
            <pc:sldMk cId="1563076144" sldId="277"/>
            <ac:spMk id="3" creationId="{3E3E1744-2ABD-4F71-9C90-E0C9ACEC8F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0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5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2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8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1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0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6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0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0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5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65A46-CF8A-4879-9651-59A8E058DF74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ECE2E-69B1-4C55-8C5C-58349CF3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0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particle filter estimate of COVID-19 infection rates on a college campus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Michael Falkenheim</a:t>
            </a:r>
          </a:p>
        </p:txBody>
      </p:sp>
    </p:spTree>
    <p:extLst>
      <p:ext uri="{BB962C8B-B14F-4D97-AF65-F5344CB8AC3E}">
        <p14:creationId xmlns:p14="http://schemas.microsoft.com/office/powerpoint/2010/main" val="424685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Covid-19 and residential colleges in the fall of 2020</a:t>
            </a:r>
          </a:p>
          <a:p>
            <a:r>
              <a:rPr lang="en-US" dirty="0"/>
              <a:t>Some general thoughts on particle filters and when they might be useful.</a:t>
            </a:r>
          </a:p>
          <a:p>
            <a:r>
              <a:rPr lang="en-US" dirty="0"/>
              <a:t>Demonstration of particle filters with Boston University infection rates:</a:t>
            </a:r>
          </a:p>
          <a:p>
            <a:pPr lvl="1"/>
            <a:r>
              <a:rPr lang="en-US" dirty="0"/>
              <a:t>Initializing with a prior distribution</a:t>
            </a:r>
          </a:p>
          <a:p>
            <a:pPr lvl="1"/>
            <a:r>
              <a:rPr lang="en-US" dirty="0"/>
              <a:t>Updating with new data (filtering)</a:t>
            </a:r>
          </a:p>
          <a:p>
            <a:pPr lvl="1"/>
            <a:r>
              <a:rPr lang="en-US" dirty="0"/>
              <a:t>Calculating likelihood of data (for use in MLE)</a:t>
            </a:r>
          </a:p>
          <a:p>
            <a:pPr lvl="1"/>
            <a:r>
              <a:rPr lang="en-US" dirty="0"/>
              <a:t>Smoothing</a:t>
            </a:r>
          </a:p>
          <a:p>
            <a:r>
              <a:rPr lang="en-US" dirty="0"/>
              <a:t>Python open source tools on GitHub.</a:t>
            </a:r>
          </a:p>
          <a:p>
            <a:r>
              <a:rPr lang="en-US" dirty="0"/>
              <a:t>Warning: I am a user of particle filters but not really an expert.</a:t>
            </a:r>
          </a:p>
        </p:txBody>
      </p:sp>
    </p:spTree>
    <p:extLst>
      <p:ext uri="{BB962C8B-B14F-4D97-AF65-F5344CB8AC3E}">
        <p14:creationId xmlns:p14="http://schemas.microsoft.com/office/powerpoint/2010/main" val="125522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Debate over college reopening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352" y="1279209"/>
            <a:ext cx="6457324" cy="3347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9" y="2604772"/>
            <a:ext cx="4873751" cy="367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836184"/>
            <a:ext cx="7681626" cy="204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6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CDC Guidelines for Higher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Lowest Risk</a:t>
            </a:r>
            <a:endParaRPr lang="en-US" dirty="0"/>
          </a:p>
          <a:p>
            <a:pPr lvl="1"/>
            <a:r>
              <a:rPr lang="en-US" dirty="0"/>
              <a:t>Faculty and students engage in virtual-only learning options, activities, and events.</a:t>
            </a:r>
          </a:p>
          <a:p>
            <a:r>
              <a:rPr lang="en-US" b="1" dirty="0"/>
              <a:t>Some Risk</a:t>
            </a:r>
            <a:endParaRPr lang="en-US" dirty="0"/>
          </a:p>
          <a:p>
            <a:pPr lvl="1"/>
            <a:r>
              <a:rPr lang="en-US" dirty="0"/>
              <a:t>Hybrid learning model: in-person learning is limited to courses and laboratory instruction that cannot be delivered remotely.</a:t>
            </a:r>
          </a:p>
          <a:p>
            <a:r>
              <a:rPr lang="en-US" b="1" dirty="0"/>
              <a:t>Medium Risk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Hybrid learning model: Students participate in a mix of virtual learning and in-person learning for all courses. Dine outdoors, limit social gathering</a:t>
            </a:r>
          </a:p>
          <a:p>
            <a:r>
              <a:rPr lang="en-US" b="1" dirty="0"/>
              <a:t>High Risk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More or less business as usual</a:t>
            </a:r>
          </a:p>
          <a:p>
            <a:pPr lvl="1"/>
            <a:endParaRPr lang="en-US" dirty="0"/>
          </a:p>
          <a:p>
            <a:r>
              <a:rPr lang="en-US" dirty="0"/>
              <a:t>All levels: disinfect stuff, test people when they are sick, isolate them if they have Covid-19, discourage or prohibit large social gatherings, Test </a:t>
            </a:r>
            <a:r>
              <a:rPr lang="en-US" dirty="0" smtClean="0"/>
              <a:t>students </a:t>
            </a:r>
            <a:r>
              <a:rPr lang="en-US" dirty="0"/>
              <a:t>upon arrival on campus.</a:t>
            </a:r>
          </a:p>
        </p:txBody>
      </p:sp>
    </p:spTree>
    <p:extLst>
      <p:ext uri="{BB962C8B-B14F-4D97-AF65-F5344CB8AC3E}">
        <p14:creationId xmlns:p14="http://schemas.microsoft.com/office/powerpoint/2010/main" val="255302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693"/>
            <a:ext cx="10515600" cy="1325563"/>
          </a:xfrm>
        </p:spPr>
        <p:txBody>
          <a:bodyPr/>
          <a:lstStyle/>
          <a:p>
            <a:r>
              <a:rPr lang="en-US" dirty="0"/>
              <a:t>Why study BU? My daughter is at film school there.</a:t>
            </a:r>
          </a:p>
        </p:txBody>
      </p:sp>
      <p:pic>
        <p:nvPicPr>
          <p:cNvPr id="1026" name="Picture 2" descr="https://lh3.googleusercontent.com/be_R2em4gfOdPavSwYPqeBziDjULXJoFqht9k8R1IJnHcmdk00g5zl9GNu0RMAlQ9b-Tpk1EYSo3oD0Uh12OTnxAQJ2H1Tea3h1EOg-lN6Oe4XO9hDIvUf1xmCwNG_V0wzgCZsTq09R18zoURx2GFSNos3-yz12E7bNljcSTwWRCTuQNq0frToMH2whLcqYvIovx92-LFpUCtPqNIcY5RaDY-2YK1KPVa_HOFTTz2EZMqAMf9Z34dx2zCBaza3xryel430edThuH0MBZ9ZIUoG3eGAtaHSFp402EdJQN-vjO89QrzmX17TULIXRnOdMAL358Hq4MBaWmSlYrHU33xqBA7rFcMwBu6bysIlbdUq2H3-K8UxwHHC7BauvhFYfXJwKP6beyOMDg4sz3rWCnUzCBWknAr1E2GiWVtDJ0s4qNptb1rMnShBYmCoveyaHmAfTc6uRfiXOcfgKlpdjpFD2g56vb4-qArelnWqL7jjfXrxwNT9WxGUjUbSU8GEGswjQ1miNem9Pc6h8jLK7nMygONomswi8tKkVAKjkMa4Kv_R1dJQ-e3V1vM-xMVMO8zKhQMeqe103ClkBEd0yXJcbfPXAwGmdDLhOwwQoK2kG1aheYvDI8vfxzDDpkhWWwtwXGUwVtF2LAJdEIevceZxBAMuP6ZyxOFnJWpdwns4ez1scPofdymYYtIs5Y=w1605-h903-no?authuser=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947" y="1825625"/>
            <a:ext cx="773410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16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Boston University’s Approach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some ways the approach is consistent with CDC “medium risk”: All courses have some element of in-person instruction.</a:t>
            </a:r>
          </a:p>
          <a:p>
            <a:r>
              <a:rPr lang="en-US" dirty="0"/>
              <a:t>Large social gatherings prohibited with heavy penalties for infractions</a:t>
            </a:r>
          </a:p>
          <a:p>
            <a:r>
              <a:rPr lang="en-US" dirty="0"/>
              <a:t>Masks required at all times</a:t>
            </a:r>
          </a:p>
          <a:p>
            <a:r>
              <a:rPr lang="en-US" dirty="0"/>
              <a:t>Dining grab and go – and students encouraged to eat outside as long as weather suitable</a:t>
            </a:r>
          </a:p>
          <a:p>
            <a:pPr marL="0" indent="0">
              <a:buNone/>
            </a:pPr>
            <a:r>
              <a:rPr lang="en-US" dirty="0"/>
              <a:t>PLUS</a:t>
            </a:r>
          </a:p>
          <a:p>
            <a:r>
              <a:rPr lang="en-US" dirty="0"/>
              <a:t>Mandatory twice a week testing of </a:t>
            </a:r>
            <a:r>
              <a:rPr lang="en-US" dirty="0" smtClean="0"/>
              <a:t>everyone (they make the tests)</a:t>
            </a:r>
            <a:endParaRPr lang="en-US" dirty="0"/>
          </a:p>
          <a:p>
            <a:r>
              <a:rPr lang="en-US" dirty="0"/>
              <a:t>Students must check symptoms and report in app each day</a:t>
            </a:r>
          </a:p>
          <a:p>
            <a:r>
              <a:rPr lang="en-US" dirty="0"/>
              <a:t>Isolation housing for those who test positive</a:t>
            </a:r>
          </a:p>
        </p:txBody>
      </p:sp>
    </p:spTree>
    <p:extLst>
      <p:ext uri="{BB962C8B-B14F-4D97-AF65-F5344CB8AC3E}">
        <p14:creationId xmlns:p14="http://schemas.microsoft.com/office/powerpoint/2010/main" val="284223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 Covid-19 Dashboard (so far so good)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723" y="1490600"/>
            <a:ext cx="6882580" cy="485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4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 helps that MA is past its darkest hour (deaths /day)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90" y="1731264"/>
            <a:ext cx="11571019" cy="454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9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on Particle Filters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Particle filters use a “swarm” of particles to approximate the distribution of unobserved variables of interest.</a:t>
            </a:r>
          </a:p>
          <a:p>
            <a:r>
              <a:rPr lang="en-US" dirty="0"/>
              <a:t>A particle is a set possible coordinates for those variables.</a:t>
            </a:r>
          </a:p>
          <a:p>
            <a:r>
              <a:rPr lang="en-US" dirty="0"/>
              <a:t>Particles are </a:t>
            </a:r>
            <a:r>
              <a:rPr lang="en-US" dirty="0" smtClean="0"/>
              <a:t>reweighted (given higher or lower probability) </a:t>
            </a:r>
            <a:r>
              <a:rPr lang="en-US" dirty="0"/>
              <a:t>according to </a:t>
            </a:r>
            <a:r>
              <a:rPr lang="en-US" dirty="0" err="1"/>
              <a:t>Bayes’s</a:t>
            </a:r>
            <a:r>
              <a:rPr lang="en-US" dirty="0"/>
              <a:t> rule using the likelihood of the observed data conditional on that </a:t>
            </a:r>
            <a:r>
              <a:rPr lang="en-US" dirty="0" smtClean="0"/>
              <a:t>particle’s coordinate </a:t>
            </a:r>
            <a:r>
              <a:rPr lang="en-US" dirty="0"/>
              <a:t>being the true location.</a:t>
            </a:r>
          </a:p>
          <a:p>
            <a:r>
              <a:rPr lang="en-US" dirty="0"/>
              <a:t>Importance sampling (survival of the fittest particles) is a key element of the algorithm. </a:t>
            </a:r>
          </a:p>
          <a:p>
            <a:r>
              <a:rPr lang="en-US" dirty="0"/>
              <a:t>Particle filtering is a Monte Carlo algorithm but not the only one used for Markov Chains. There is another Monte Carlo algorithm called the Hastings-Metropolis algorithm which relies on random steps.</a:t>
            </a:r>
          </a:p>
        </p:txBody>
      </p:sp>
    </p:spTree>
    <p:extLst>
      <p:ext uri="{BB962C8B-B14F-4D97-AF65-F5344CB8AC3E}">
        <p14:creationId xmlns:p14="http://schemas.microsoft.com/office/powerpoint/2010/main" val="324378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filters versus other filters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Kalman</a:t>
            </a:r>
            <a:r>
              <a:rPr lang="en-US" dirty="0"/>
              <a:t> filter model: linear Gaussian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For </a:t>
                </a:r>
                <a:r>
                  <a:rPr lang="en-US" dirty="0" smtClean="0"/>
                  <a:t>an unobserved </a:t>
                </a:r>
                <a:r>
                  <a:rPr lang="en-US" dirty="0"/>
                  <a:t>variable of interest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we observe a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the diffusion of the movement of the latent variable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, the noise variable, are normally distributed. Summed together they are also normal, leading to a nice analytical solution.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28" t="-3311" r="-1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More difficult to estimate model: nonlinear and/or non Gaussian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𝑎𝑟𝑎𝑚𝑒𝑡𝑒𝑟𝑠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functions f and g may not be linear and/or the stochastic terms are not normally distributed.</a:t>
                </a:r>
              </a:p>
              <a:p>
                <a:pPr marL="0" indent="0">
                  <a:buNone/>
                </a:pPr>
                <a:r>
                  <a:rPr lang="en-US" dirty="0"/>
                  <a:t>“</a:t>
                </a:r>
                <a:r>
                  <a:rPr lang="en-US" dirty="0" smtClean="0"/>
                  <a:t>Extended” </a:t>
                </a:r>
                <a:r>
                  <a:rPr lang="en-US" dirty="0" err="1"/>
                  <a:t>Kalman</a:t>
                </a:r>
                <a:r>
                  <a:rPr lang="en-US" dirty="0"/>
                  <a:t> filter good for nonlinear </a:t>
                </a:r>
                <a:r>
                  <a:rPr lang="en-US" dirty="0" smtClean="0"/>
                  <a:t>f</a:t>
                </a:r>
                <a:r>
                  <a:rPr lang="en-US" dirty="0"/>
                  <a:t>.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In </a:t>
                </a:r>
                <a:r>
                  <a:rPr lang="en-US" dirty="0"/>
                  <a:t>case of COVID </a:t>
                </a:r>
                <a:r>
                  <a:rPr lang="en-US" dirty="0" smtClean="0"/>
                  <a:t>data, </a:t>
                </a:r>
                <a:r>
                  <a:rPr lang="en-US" dirty="0"/>
                  <a:t>f is plausibly linear </a:t>
                </a:r>
                <a:r>
                  <a:rPr lang="en-US" dirty="0" smtClean="0"/>
                  <a:t>Gaussian. </a:t>
                </a:r>
                <a:r>
                  <a:rPr lang="en-US" dirty="0"/>
                  <a:t>However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drawn from a discrete distribution.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118" r="-2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81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Particle Filters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/ Engineering: where is the robot?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671749"/>
            <a:ext cx="4757387" cy="3517914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Economics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Fernández-Villaverde</a:t>
            </a:r>
            <a:r>
              <a:rPr lang="en-US" dirty="0"/>
              <a:t>, </a:t>
            </a:r>
            <a:r>
              <a:rPr lang="en-US" dirty="0" err="1"/>
              <a:t>Jesús</a:t>
            </a:r>
            <a:r>
              <a:rPr lang="en-US" dirty="0"/>
              <a:t>, and Juan F. Rubio-</a:t>
            </a:r>
            <a:r>
              <a:rPr lang="en-US" dirty="0" err="1"/>
              <a:t>Ramírez</a:t>
            </a:r>
            <a:r>
              <a:rPr lang="en-US" dirty="0"/>
              <a:t>. "Estimating macroeconomic models: A likelihood approach." </a:t>
            </a:r>
            <a:r>
              <a:rPr lang="en-US" i="1" dirty="0"/>
              <a:t>The Review of Economic Studies</a:t>
            </a:r>
            <a:r>
              <a:rPr lang="en-US" dirty="0"/>
              <a:t> 74.4 (2007): 1059-1087.</a:t>
            </a:r>
          </a:p>
        </p:txBody>
      </p:sp>
    </p:spTree>
    <p:extLst>
      <p:ext uri="{BB962C8B-B14F-4D97-AF65-F5344CB8AC3E}">
        <p14:creationId xmlns:p14="http://schemas.microsoft.com/office/powerpoint/2010/main" val="19489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particle filtering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Draw particles from prior distribution.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</a:t>
            </a:r>
            <a:r>
              <a:rPr lang="en-US" dirty="0" smtClean="0"/>
              <a:t>particles </a:t>
            </a:r>
            <a:r>
              <a:rPr lang="en-US" dirty="0"/>
              <a:t>into next period.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diffusion.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Calculate weight for each particle </a:t>
            </a:r>
            <a:r>
              <a:rPr lang="en-US" dirty="0"/>
              <a:t>based </a:t>
            </a:r>
            <a:r>
              <a:rPr lang="en-US" dirty="0" smtClean="0"/>
              <a:t>the likelihood of observed data in that period condition on the location of the particle (</a:t>
            </a:r>
            <a:r>
              <a:rPr lang="en-US" dirty="0"/>
              <a:t>Bayes). </a:t>
            </a:r>
            <a:r>
              <a:rPr lang="en-US" dirty="0" smtClean="0"/>
              <a:t>(These likelihoods can also be used to estimate parameters under MLE). Use weights to calculate mean and so on.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Resample particles based on weights (importance sampling)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steps 2 to 5 until you reach last observation.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Backwards smoothing (if desired).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05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Initialize prior distribution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Assume (arbitrarily for now) that the infection rate upon arrival is drawn from a uniform distribution U(0, k). </a:t>
            </a:r>
            <a:r>
              <a:rPr lang="en-US" dirty="0" smtClean="0"/>
              <a:t>Let’s </a:t>
            </a:r>
            <a:r>
              <a:rPr lang="en-US" dirty="0"/>
              <a:t>make k = 0.01</a:t>
            </a:r>
            <a:r>
              <a:rPr lang="en-US" dirty="0" smtClean="0"/>
              <a:t>. “Students arriving at BU had an infection rate between zero and one percent.”</a:t>
            </a:r>
            <a:endParaRPr lang="en-US" dirty="0"/>
          </a:p>
          <a:p>
            <a:r>
              <a:rPr lang="en-US" dirty="0"/>
              <a:t>Draw a bunch of particles randomly from the U(0, 0.01) distribution.</a:t>
            </a:r>
          </a:p>
          <a:p>
            <a:r>
              <a:rPr lang="en-US" dirty="0"/>
              <a:t>Given them equal weight.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5CA469F-7DB6-4453-B245-DA29EADB82F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3593284"/>
              </p:ext>
            </p:extLst>
          </p:nvPr>
        </p:nvGraphicFramePr>
        <p:xfrm>
          <a:off x="6172202" y="1825625"/>
          <a:ext cx="5181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9847079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989331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Infections</a:t>
                      </a:r>
                      <a:r>
                        <a:rPr lang="en-US" baseline="0" dirty="0" smtClean="0"/>
                        <a:t> rate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time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486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33843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0.0058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2116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7580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0.0084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56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64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062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0811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0.0073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4318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0.0098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38716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0.0042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1502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11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Projected movement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Project forward infection rates based on </a:t>
            </a:r>
            <a:r>
              <a:rPr lang="en-US" dirty="0" smtClean="0"/>
              <a:t>a simple epidemiological model.</a:t>
            </a:r>
          </a:p>
          <a:p>
            <a:r>
              <a:rPr lang="en-US" dirty="0" smtClean="0"/>
              <a:t>I assume a rate </a:t>
            </a:r>
            <a:r>
              <a:rPr lang="en-US" dirty="0"/>
              <a:t>of transmission (</a:t>
            </a:r>
            <a:r>
              <a:rPr lang="en-US" dirty="0" err="1" smtClean="0"/>
              <a:t>Rt</a:t>
            </a:r>
            <a:r>
              <a:rPr lang="en-US" dirty="0" smtClean="0"/>
              <a:t>=0.4) </a:t>
            </a:r>
            <a:r>
              <a:rPr lang="en-US" dirty="0"/>
              <a:t>and serial interval (6 days). This leads to exponential growth/shrinkage of infection </a:t>
            </a:r>
            <a:r>
              <a:rPr lang="en-US" dirty="0" smtClean="0"/>
              <a:t>rates. In this case a daily shrinkage factor </a:t>
            </a:r>
            <a:r>
              <a:rPr lang="en-US" dirty="0"/>
              <a:t>of 0.9.</a:t>
            </a:r>
          </a:p>
          <a:p>
            <a:r>
              <a:rPr lang="en-US" dirty="0" smtClean="0"/>
              <a:t>But assume </a:t>
            </a:r>
            <a:r>
              <a:rPr lang="en-US" dirty="0"/>
              <a:t>that 0.0002 infections are imported from outside campus.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E204F79-1377-4A7D-A2E4-22F6C152B0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1408108"/>
              </p:ext>
            </p:extLst>
          </p:nvPr>
        </p:nvGraphicFramePr>
        <p:xfrm>
          <a:off x="6096001" y="1825625"/>
          <a:ext cx="5436093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031">
                  <a:extLst>
                    <a:ext uri="{9D8B030D-6E8A-4147-A177-3AD203B41FA5}">
                      <a16:colId xmlns:a16="http://schemas.microsoft.com/office/drawing/2014/main" val="153258500"/>
                    </a:ext>
                  </a:extLst>
                </a:gridCol>
                <a:gridCol w="1812031">
                  <a:extLst>
                    <a:ext uri="{9D8B030D-6E8A-4147-A177-3AD203B41FA5}">
                      <a16:colId xmlns:a16="http://schemas.microsoft.com/office/drawing/2014/main" val="863320503"/>
                    </a:ext>
                  </a:extLst>
                </a:gridCol>
                <a:gridCol w="1812031">
                  <a:extLst>
                    <a:ext uri="{9D8B030D-6E8A-4147-A177-3AD203B41FA5}">
                      <a16:colId xmlns:a16="http://schemas.microsoft.com/office/drawing/2014/main" val="2399800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infection </a:t>
                      </a:r>
                      <a:r>
                        <a:rPr lang="en-US" dirty="0"/>
                        <a:t>day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projection </a:t>
                      </a:r>
                      <a:r>
                        <a:rPr lang="en-US" dirty="0"/>
                        <a:t>day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840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9545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0.0058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2907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31464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0.0084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6714821"/>
                  </a:ext>
                </a:extLst>
              </a:tr>
              <a:tr h="315126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644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375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8964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0.0073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578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0.0098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31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0.0042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6654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63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D</a:t>
            </a:r>
            <a:r>
              <a:rPr lang="en-US" dirty="0" smtClean="0"/>
              <a:t>iffusion: “let’s make some noise!”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Assume that infection rate is gamma distributed with an expected value equal to the projection (from last step) and </a:t>
            </a:r>
            <a:r>
              <a:rPr lang="en-US" dirty="0" smtClean="0"/>
              <a:t>a shape </a:t>
            </a:r>
            <a:r>
              <a:rPr lang="en-US" dirty="0"/>
              <a:t>parameter (which determines the variance.</a:t>
            </a:r>
          </a:p>
          <a:p>
            <a:r>
              <a:rPr lang="en-US" dirty="0"/>
              <a:t>Gamma distributions are commonly used for this sort of thing (as discussed later) by actuaries.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DFA441-BEA1-4AFC-9AD9-8F992EA14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645501"/>
              </p:ext>
            </p:extLst>
          </p:nvPr>
        </p:nvGraphicFramePr>
        <p:xfrm>
          <a:off x="6057900" y="1690688"/>
          <a:ext cx="5436093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031">
                  <a:extLst>
                    <a:ext uri="{9D8B030D-6E8A-4147-A177-3AD203B41FA5}">
                      <a16:colId xmlns:a16="http://schemas.microsoft.com/office/drawing/2014/main" val="2477841727"/>
                    </a:ext>
                  </a:extLst>
                </a:gridCol>
                <a:gridCol w="1812031">
                  <a:extLst>
                    <a:ext uri="{9D8B030D-6E8A-4147-A177-3AD203B41FA5}">
                      <a16:colId xmlns:a16="http://schemas.microsoft.com/office/drawing/2014/main" val="261690029"/>
                    </a:ext>
                  </a:extLst>
                </a:gridCol>
                <a:gridCol w="1812031">
                  <a:extLst>
                    <a:ext uri="{9D8B030D-6E8A-4147-A177-3AD203B41FA5}">
                      <a16:colId xmlns:a16="http://schemas.microsoft.com/office/drawing/2014/main" val="99655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projection </a:t>
                      </a:r>
                      <a:r>
                        <a:rPr lang="en-US" dirty="0"/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Infection day 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0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408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554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974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0.0078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2476808"/>
                  </a:ext>
                </a:extLst>
              </a:tr>
              <a:tr h="315126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87750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0.0122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8191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6161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0.0138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23484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484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94595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49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Calculate weight of each particle using data point and Bayes.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each particle calculate </a:t>
            </a:r>
            <a:r>
              <a:rPr lang="en-US" dirty="0" smtClean="0"/>
              <a:t>the expected </a:t>
            </a:r>
            <a:r>
              <a:rPr lang="en-US" dirty="0"/>
              <a:t>positive tests given </a:t>
            </a:r>
            <a:r>
              <a:rPr lang="en-US" dirty="0" smtClean="0"/>
              <a:t>the infection rate and number </a:t>
            </a:r>
            <a:r>
              <a:rPr lang="en-US" dirty="0"/>
              <a:t>tested. </a:t>
            </a:r>
          </a:p>
          <a:p>
            <a:r>
              <a:rPr lang="en-US" dirty="0"/>
              <a:t>For example if 5000 tests are done in a day a particle at 0.0007 infection rate would result expected positives = 3.5</a:t>
            </a:r>
          </a:p>
          <a:p>
            <a:r>
              <a:rPr lang="en-US" dirty="0"/>
              <a:t>Calculate weight based on likelihood of actual data point with </a:t>
            </a:r>
            <a:r>
              <a:rPr lang="en-US" dirty="0" err="1"/>
              <a:t>lamda</a:t>
            </a:r>
            <a:r>
              <a:rPr lang="en-US" dirty="0"/>
              <a:t> = expected positive tests. Suppose actual positives = 2.</a:t>
            </a:r>
          </a:p>
          <a:p>
            <a:r>
              <a:rPr lang="en-US" dirty="0"/>
              <a:t>Poisson(2|3.5) = 0.185</a:t>
            </a:r>
          </a:p>
          <a:p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D6D9D3C-1113-46CA-9077-93CE22D954C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1238464"/>
              </p:ext>
            </p:extLst>
          </p:nvPr>
        </p:nvGraphicFramePr>
        <p:xfrm>
          <a:off x="6019800" y="1426130"/>
          <a:ext cx="5181600" cy="46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631429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06386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5282941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782399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positive for 5000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Likelihood of 2 positives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09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379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97655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58984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76366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0.0042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9538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4497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0.2698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887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37249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479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90352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0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Importance Sampling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083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Many particles end up with next to zero weight after wandering away from the data points. Continuing to use the same particles and reweighting them would lead to a </a:t>
            </a:r>
            <a:r>
              <a:rPr lang="en-US" i="1" dirty="0"/>
              <a:t>degenerate</a:t>
            </a:r>
            <a:r>
              <a:rPr lang="en-US" dirty="0"/>
              <a:t> distribution.</a:t>
            </a:r>
          </a:p>
          <a:p>
            <a:r>
              <a:rPr lang="en-US" dirty="0"/>
              <a:t>Resampling the particles based on their weights solves this problem.</a:t>
            </a:r>
          </a:p>
          <a:p>
            <a:r>
              <a:rPr lang="en-US" dirty="0"/>
              <a:t>Repeat steps 2-5 until you reach last data point.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66DABA-5203-4945-929E-5291BB31E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147323"/>
              </p:ext>
            </p:extLst>
          </p:nvPr>
        </p:nvGraphicFramePr>
        <p:xfrm>
          <a:off x="5749031" y="1825625"/>
          <a:ext cx="6056670" cy="4557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574">
                  <a:extLst>
                    <a:ext uri="{9D8B030D-6E8A-4147-A177-3AD203B41FA5}">
                      <a16:colId xmlns:a16="http://schemas.microsoft.com/office/drawing/2014/main" val="12182806"/>
                    </a:ext>
                  </a:extLst>
                </a:gridCol>
                <a:gridCol w="1523023">
                  <a:extLst>
                    <a:ext uri="{9D8B030D-6E8A-4147-A177-3AD203B41FA5}">
                      <a16:colId xmlns:a16="http://schemas.microsoft.com/office/drawing/2014/main" val="2214973227"/>
                    </a:ext>
                  </a:extLst>
                </a:gridCol>
                <a:gridCol w="1386093">
                  <a:extLst>
                    <a:ext uri="{9D8B030D-6E8A-4147-A177-3AD203B41FA5}">
                      <a16:colId xmlns:a16="http://schemas.microsoft.com/office/drawing/2014/main" val="3061016838"/>
                    </a:ext>
                  </a:extLst>
                </a:gridCol>
                <a:gridCol w="1700980">
                  <a:extLst>
                    <a:ext uri="{9D8B030D-6E8A-4147-A177-3AD203B41FA5}">
                      <a16:colId xmlns:a16="http://schemas.microsoft.com/office/drawing/2014/main" val="2119452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Particle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Likelihood of 2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Scaled Weight (Likelihood of being drawn)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746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0.2698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0.1276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5950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0.00078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0.1539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0.0728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046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0.00035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0.2654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0.1255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1448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0.2370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0.1121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010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0.00083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0.1361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0.0644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741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0.00079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0.0714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95467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0.00092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0.1054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0.0498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5671349"/>
                  </a:ext>
                </a:extLst>
              </a:tr>
              <a:tr h="3053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0.00065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0.2039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0.0965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01177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0.00083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0.1360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0.0643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9308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0.0479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526027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938684" y="1456293"/>
            <a:ext cx="4178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Top ten particles (in terms of likelihood)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3119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digressions: Likelihood of data; negative binomial distribution as Gamma Poisson Mixture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Likelihood estimation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Given n particles with equal weight, the approximate likelihood of the data is the average likelihood under each particle.</a:t>
            </a:r>
          </a:p>
          <a:p>
            <a:r>
              <a:rPr lang="en-US" dirty="0"/>
              <a:t>For example average from </a:t>
            </a:r>
            <a:r>
              <a:rPr lang="en-US" dirty="0" smtClean="0"/>
              <a:t>two slides ago</a:t>
            </a:r>
            <a:r>
              <a:rPr lang="en-US" dirty="0" smtClean="0"/>
              <a:t> </a:t>
            </a:r>
            <a:r>
              <a:rPr lang="en-US" dirty="0"/>
              <a:t>is </a:t>
            </a:r>
            <a:r>
              <a:rPr lang="en-US" dirty="0" smtClean="0"/>
              <a:t>0.027</a:t>
            </a:r>
            <a:endParaRPr lang="en-US" dirty="0"/>
          </a:p>
          <a:p>
            <a:r>
              <a:rPr lang="en-US" dirty="0"/>
              <a:t>The likelihood of all data points is the product of those calculations for each data point.</a:t>
            </a:r>
          </a:p>
          <a:p>
            <a:r>
              <a:rPr lang="en-US" dirty="0"/>
              <a:t>This approximation of likelihood can be used for estimation of the parameters.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Negative-binomial distribution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If the number of positives is Poisson conditional on </a:t>
            </a:r>
            <a:r>
              <a:rPr lang="en-US" dirty="0" err="1"/>
              <a:t>lamda</a:t>
            </a:r>
            <a:r>
              <a:rPr lang="en-US" dirty="0"/>
              <a:t>, and </a:t>
            </a:r>
            <a:r>
              <a:rPr lang="en-US" dirty="0" err="1"/>
              <a:t>lamda</a:t>
            </a:r>
            <a:r>
              <a:rPr lang="en-US" dirty="0"/>
              <a:t> is Gamma distributed, then the unconditional distribution of the number of positive is negative binomial. </a:t>
            </a:r>
          </a:p>
          <a:p>
            <a:r>
              <a:rPr lang="en-US" dirty="0"/>
              <a:t>Actuaries seem to love the negative binomial distribution.</a:t>
            </a:r>
          </a:p>
          <a:p>
            <a:r>
              <a:rPr lang="en-US" dirty="0"/>
              <a:t>Poisson is a good approximation of binomial distribution for low p events.</a:t>
            </a:r>
          </a:p>
          <a:p>
            <a:r>
              <a:rPr lang="en-US" dirty="0"/>
              <a:t>I can make the likelihood approximation slightly better using the negative binomial in place of the approach described on the left.</a:t>
            </a:r>
          </a:p>
        </p:txBody>
      </p:sp>
    </p:spTree>
    <p:extLst>
      <p:ext uri="{BB962C8B-B14F-4D97-AF65-F5344CB8AC3E}">
        <p14:creationId xmlns:p14="http://schemas.microsoft.com/office/powerpoint/2010/main" val="327708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versus smoothing estimate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1265186"/>
            <a:ext cx="7010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4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the smoothing estimate  (work backwards)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Procedure is called Forward Filtering Backwards Smoothing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Do filtering, and store particles at each time period. Then starting with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calculate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for all particles at t - 1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Weight the particles at t – 1 by those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to obtain an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Repeat steps 2 and 3 until you obtain an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40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Estimates for process generating BU Covid-19 infections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490530"/>
              </p:ext>
            </p:extLst>
          </p:nvPr>
        </p:nvGraphicFramePr>
        <p:xfrm>
          <a:off x="838200" y="1825625"/>
          <a:ext cx="105156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105423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862137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46597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31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Upper</a:t>
                      </a:r>
                      <a:r>
                        <a:rPr lang="en-US" baseline="0" dirty="0"/>
                        <a:t> limit of prior distribution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0" dirty="0" smtClean="0"/>
                        <a:t> fraction of a percent of students arrived with infections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651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 for infections</a:t>
                      </a:r>
                      <a:r>
                        <a:rPr lang="en-US" baseline="0" dirty="0"/>
                        <a:t> on campus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Mitigation measures </a:t>
                      </a:r>
                      <a:r>
                        <a:rPr lang="en-US" dirty="0"/>
                        <a:t>have</a:t>
                      </a:r>
                      <a:r>
                        <a:rPr lang="en-US" baseline="0" dirty="0"/>
                        <a:t> East Asian degree of </a:t>
                      </a:r>
                      <a:r>
                        <a:rPr lang="en-US" baseline="0" dirty="0" smtClean="0"/>
                        <a:t>success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77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Daily rate of importation of infections</a:t>
                      </a:r>
                      <a:r>
                        <a:rPr lang="en-US" baseline="0" dirty="0"/>
                        <a:t> from Boston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0.04%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Exposure</a:t>
                      </a:r>
                      <a:r>
                        <a:rPr lang="en-US" baseline="0" dirty="0" smtClean="0"/>
                        <a:t> to other Bostonians seeds infections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87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Shape</a:t>
                      </a:r>
                      <a:r>
                        <a:rPr lang="en-US" baseline="0" dirty="0"/>
                        <a:t> parameter for gamma distribution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Daily</a:t>
                      </a:r>
                      <a:r>
                        <a:rPr lang="en-US" baseline="0" dirty="0" smtClean="0"/>
                        <a:t> s</a:t>
                      </a:r>
                      <a:r>
                        <a:rPr lang="en-US" dirty="0" smtClean="0"/>
                        <a:t>tandard</a:t>
                      </a:r>
                      <a:r>
                        <a:rPr lang="en-US" baseline="0" dirty="0" smtClean="0"/>
                        <a:t> deviation of infection rate about one quarter of expected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94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93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27BE-D4BF-4D62-BAE5-346A1A01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resources for particle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1744-2ABD-4F71-9C90-E0C9ACEC8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used “</a:t>
            </a:r>
            <a:r>
              <a:rPr lang="en-US" dirty="0" err="1"/>
              <a:t>pfilter</a:t>
            </a:r>
            <a:r>
              <a:rPr lang="en-US" dirty="0"/>
              <a:t>” which required its users to define four functions (prior, projection, diffusion, weighting) and did most of the rest.</a:t>
            </a:r>
          </a:p>
          <a:p>
            <a:r>
              <a:rPr lang="en-US" dirty="0" err="1"/>
              <a:t>Pfilter</a:t>
            </a:r>
            <a:r>
              <a:rPr lang="en-US" dirty="0"/>
              <a:t> does not do maximum likelihood or smoothing,</a:t>
            </a:r>
          </a:p>
          <a:p>
            <a:r>
              <a:rPr lang="en-US" dirty="0"/>
              <a:t>“</a:t>
            </a:r>
            <a:r>
              <a:rPr lang="en-US" dirty="0" err="1"/>
              <a:t>pyParticleEst</a:t>
            </a:r>
            <a:r>
              <a:rPr lang="en-US" dirty="0"/>
              <a:t>” does </a:t>
            </a:r>
            <a:r>
              <a:rPr lang="en-US" dirty="0" smtClean="0"/>
              <a:t>maximum likelihood and smoothing and </a:t>
            </a:r>
            <a:r>
              <a:rPr lang="en-US" dirty="0"/>
              <a:t>generally seemed to have more bells and whistles (e.g. using advanced more efficient smoothing techniques) but was less intuitive (in my view)</a:t>
            </a:r>
          </a:p>
          <a:p>
            <a:pPr marL="457200" lvl="1" indent="0">
              <a:buNone/>
            </a:pPr>
            <a:r>
              <a:rPr lang="en-US" dirty="0" err="1"/>
              <a:t>Nordh</a:t>
            </a:r>
            <a:r>
              <a:rPr lang="en-US" dirty="0"/>
              <a:t>, J. (2017). </a:t>
            </a:r>
            <a:r>
              <a:rPr lang="en-US" dirty="0" err="1"/>
              <a:t>pyParticleEst</a:t>
            </a:r>
            <a:r>
              <a:rPr lang="en-US" dirty="0"/>
              <a:t>: A Python framework for particle-based estimation methods. </a:t>
            </a:r>
            <a:r>
              <a:rPr lang="en-US" i="1" dirty="0"/>
              <a:t>Journal of Statistical Software</a:t>
            </a:r>
            <a:r>
              <a:rPr lang="en-US" dirty="0"/>
              <a:t>, </a:t>
            </a:r>
            <a:r>
              <a:rPr lang="en-US" i="1" dirty="0"/>
              <a:t>78</a:t>
            </a:r>
            <a:r>
              <a:rPr lang="en-US" dirty="0"/>
              <a:t>(1), 1-25.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07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 won’t want to miss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Just Another </a:t>
            </a:r>
            <a:r>
              <a:rPr lang="en-US" i="1" dirty="0"/>
              <a:t>M</a:t>
            </a:r>
            <a:r>
              <a:rPr lang="en-US" i="1" dirty="0" smtClean="0"/>
              <a:t>ani</a:t>
            </a:r>
            <a:r>
              <a:rPr lang="en-US" i="1" dirty="0" smtClean="0"/>
              <a:t>c Monday </a:t>
            </a:r>
            <a:r>
              <a:rPr lang="en-US" dirty="0" smtClean="0"/>
              <a:t>podcast. To counter the negative health effects of college life, Sophie </a:t>
            </a:r>
            <a:r>
              <a:rPr lang="en-US" dirty="0"/>
              <a:t>and her roommates do </a:t>
            </a:r>
            <a:r>
              <a:rPr lang="en-US" dirty="0" smtClean="0"/>
              <a:t>weeklong wellness </a:t>
            </a:r>
            <a:r>
              <a:rPr lang="en-US" dirty="0"/>
              <a:t>challenges such as sleeping on the same schedule every day for a week "so that you don't have to." On the podcast they tell their audience how it went and what they learned. </a:t>
            </a:r>
            <a:r>
              <a:rPr lang="en-US" dirty="0" smtClean="0"/>
              <a:t>Available on Anchor, Spotify and many other media.</a:t>
            </a:r>
          </a:p>
          <a:p>
            <a:r>
              <a:rPr lang="en-US" i="1" dirty="0" smtClean="0"/>
              <a:t>BUTV10</a:t>
            </a:r>
            <a:r>
              <a:rPr lang="en-US" dirty="0" smtClean="0"/>
              <a:t>’s election coverage. Sophie will serve on a three person panel of student pundits. (her views are her own).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262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FE8C8E9EE5BC4A95CABE04D7CA69ED" ma:contentTypeVersion="15" ma:contentTypeDescription="Create a new document." ma:contentTypeScope="" ma:versionID="86be21f312bec202d6d201a6b3145604">
  <xsd:schema xmlns:xsd="http://www.w3.org/2001/XMLSchema" xmlns:xs="http://www.w3.org/2001/XMLSchema" xmlns:p="http://schemas.microsoft.com/office/2006/metadata/properties" xmlns:ns2="f1b02e13-0956-4216-821e-1a8dcbac787a" xmlns:ns3="5086f077-8b9d-4029-9c14-45513b220d1c" targetNamespace="http://schemas.microsoft.com/office/2006/metadata/properties" ma:root="true" ma:fieldsID="fb58e595b4160bfd51dbc3e242200f29" ns2:_="" ns3:_="">
    <xsd:import namespace="f1b02e13-0956-4216-821e-1a8dcbac787a"/>
    <xsd:import namespace="5086f077-8b9d-4029-9c14-45513b220d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02e13-0956-4216-821e-1a8dcbac7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be14c18-855f-46de-8b2b-3236ffc500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f077-8b9d-4029-9c14-45513b220d1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970b1-8a26-499a-9d6a-724aaa95a4e6}" ma:internalName="TaxCatchAll" ma:showField="CatchAllData" ma:web="5086f077-8b9d-4029-9c14-45513b220d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1b02e13-0956-4216-821e-1a8dcbac787a">
      <Terms xmlns="http://schemas.microsoft.com/office/infopath/2007/PartnerControls"/>
    </lcf76f155ced4ddcb4097134ff3c332f>
    <TaxCatchAll xmlns="5086f077-8b9d-4029-9c14-45513b220d1c" xsi:nil="true"/>
  </documentManagement>
</p:properties>
</file>

<file path=customXml/item4.xml><?xml version="1.0" encoding="utf-8"?>
<?mso-contentType ?>
<spe:Receivers xmlns:spe="http://schemas.microsoft.com/sharepoint/events">
  <Receiver xmlns=""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 xmlns=""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 xmlns=""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 xmlns=""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0E0553D1-9DFB-4F9F-A627-974CF9A10092}"/>
</file>

<file path=customXml/itemProps2.xml><?xml version="1.0" encoding="utf-8"?>
<ds:datastoreItem xmlns:ds="http://schemas.openxmlformats.org/officeDocument/2006/customXml" ds:itemID="{50501455-799B-42E3-8509-9960CB7949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DA882C-6935-4E03-B5A7-1292CB1CF292}">
  <ds:schemaRefs>
    <ds:schemaRef ds:uri="http://schemas.microsoft.com/office/2006/metadata/properties"/>
    <ds:schemaRef ds:uri="92f232a9-2fa0-4da4-b8f2-e2ee1a08d714"/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abc52d6-a8ef-47e2-b69e-91e470eb4742"/>
  </ds:schemaRefs>
</ds:datastoreItem>
</file>

<file path=customXml/itemProps4.xml><?xml version="1.0" encoding="utf-8"?>
<ds:datastoreItem xmlns:ds="http://schemas.openxmlformats.org/officeDocument/2006/customXml" ds:itemID="{A28EE236-30D0-44B8-9422-F1FBC0A2EB56}"/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1922</Words>
  <Application>Microsoft Office PowerPoint</Application>
  <PresentationFormat>Widescreen</PresentationFormat>
  <Paragraphs>306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A particle filter estimate of COVID-19 infection rates on a college campus</vt:lpstr>
      <vt:lpstr>Outline of talk</vt:lpstr>
      <vt:lpstr>Debate over college reopening</vt:lpstr>
      <vt:lpstr>CDC Guidelines for Higher Education</vt:lpstr>
      <vt:lpstr>Why study BU? My daughter is at film school there.</vt:lpstr>
      <vt:lpstr>Boston University’s Approach </vt:lpstr>
      <vt:lpstr>BU Covid-19 Dashboard (so far so good)</vt:lpstr>
      <vt:lpstr>It helps that MA is past its darkest hour (deaths /day)</vt:lpstr>
      <vt:lpstr>Background on Particle Filters</vt:lpstr>
      <vt:lpstr>General approach</vt:lpstr>
      <vt:lpstr>Particle filters versus other filters</vt:lpstr>
      <vt:lpstr>Applications of Particle Filters</vt:lpstr>
      <vt:lpstr>Steps in particle filtering</vt:lpstr>
      <vt:lpstr>Step 1: Initialize prior distribution</vt:lpstr>
      <vt:lpstr>Step 2: Projected movement</vt:lpstr>
      <vt:lpstr>Step 3: Diffusion: “let’s make some noise!”</vt:lpstr>
      <vt:lpstr>Step 4: Calculate weight of each particle using data point and Bayes.</vt:lpstr>
      <vt:lpstr>Step 5: Importance Sampling</vt:lpstr>
      <vt:lpstr>Two digressions: Likelihood of data; negative binomial distribution as Gamma Poisson Mixture</vt:lpstr>
      <vt:lpstr>Filtering versus smoothing estimate</vt:lpstr>
      <vt:lpstr>How to get the smoothing estimate  (work backwards)</vt:lpstr>
      <vt:lpstr>Maximum Likelihood Estimates for process generating BU Covid-19 infections</vt:lpstr>
      <vt:lpstr>Python resources for particle filters</vt:lpstr>
      <vt:lpstr>You won’t want to miss</vt:lpstr>
    </vt:vector>
  </TitlesOfParts>
  <Company>Congressional Budget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particle filter estimate of COVID-19 infection rates on a college campus</dc:title>
  <dc:creator>Michael Falkenheim</dc:creator>
  <cp:lastModifiedBy>Michael Falkenheim</cp:lastModifiedBy>
  <cp:revision>45</cp:revision>
  <dcterms:created xsi:type="dcterms:W3CDTF">2020-10-12T19:56:35Z</dcterms:created>
  <dcterms:modified xsi:type="dcterms:W3CDTF">2020-10-19T14:35:50Z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0x010100C8FE8C8E9EE5BC4A95CABE04D7CA69ED</vt:lpwstr>
  </property>
  <property fmtid="{D5CDD505-2E9C-101B-9397-08002B2CF9AE}" pid="3" name="_dlc_DocId">
    <vt:lpwstr>45RU2JKQZF2C-1942001767-118</vt:lpwstr>
  </property>
  <property fmtid="{D5CDD505-2E9C-101B-9397-08002B2CF9AE}" pid="4" name="_dlc_DocIdUrl">
    <vt:lpwstr>https://cbogov.sharepoint.com/sites/cbolife/teams/CBO_data_science/_layouts/15/DocIdRedir.aspx?ID=45RU2JKQZF2C-1942001767-118, 45RU2JKQZF2C-1942001767-118</vt:lpwstr>
  </property>
  <property fmtid="{D5CDD505-2E9C-101B-9397-08002B2CF9AE}" pid="5" name="_dlc_DocIdItemGuid">
    <vt:lpwstr>a2ae4f4f-60e6-4c0c-9bb7-ba473d29cba0</vt:lpwstr>
  </property>
</Properties>
</file>